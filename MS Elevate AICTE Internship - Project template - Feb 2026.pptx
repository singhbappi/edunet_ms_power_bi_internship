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p:scale>
          <a:sx n="75" d="100"/>
          <a:sy n="75" d="100"/>
        </p:scale>
        <p:origin x="946" y="221"/>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www.linkedin.com/posts/bappi-singh-13a15a33b_powerbi-dataanalytics-microsoftlearn-activity-7438603519768670208-qE3u?utm_source=share&amp;utm_medium=member_desktop&amp;rcm=ACoAAFVGFT4Bv4f_Rebye2FBbgS7mURboFtvBcA" TargetMode="External"/><Relationship Id="rId2" Type="http://schemas.openxmlformats.org/officeDocument/2006/relationships/hyperlink" Target="https://github.com/SinghBappi/Edunet_MS_Power_Bi_Internship" TargetMode="External"/><Relationship Id="rId1" Type="http://schemas.openxmlformats.org/officeDocument/2006/relationships/slideLayout" Target="../slideLayouts/slideLayout3.xml"/><Relationship Id="rId6" Type="http://schemas.openxmlformats.org/officeDocument/2006/relationships/hyperlink" Target="https://drive.google.com/file/d/1iBNYuX0txAh9fcKNK1G5o78AvD_H1JLx/view?usp=sharing" TargetMode="External"/><Relationship Id="rId5" Type="http://schemas.openxmlformats.org/officeDocument/2006/relationships/hyperlink" Target="https://drive.google.com/file/d/1ASyJyuwt64qZqI1-OkOse2l7tzoRNtfy/view?usp=sharing" TargetMode="External"/><Relationship Id="rId4" Type="http://schemas.openxmlformats.org/officeDocument/2006/relationships/hyperlink" Target="https://drive.google.com/file/d/1lhTUR2TkuU89VoRTJrvKH2qwVDD5CIeV/view?usp=sharing"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879545"/>
            <a:ext cx="4746772" cy="29702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p>
          <a:p>
            <a:pPr algn="l"/>
            <a:r>
              <a:rPr lang="en-IN" sz="4700" b="1" dirty="0"/>
              <a:t>Elevating the Dining Experience</a:t>
            </a:r>
          </a:p>
          <a:p>
            <a:pPr algn="l"/>
            <a:endParaRPr lang="en-US" sz="47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Bappi Raman </a:t>
            </a:r>
            <a:r>
              <a:rPr lang="en-US" sz="1600" b="1" cap="all" dirty="0" err="1"/>
              <a:t>singh</a:t>
            </a:r>
            <a:endParaRPr lang="en-US" sz="1600" b="1" cap="all" dirty="0"/>
          </a:p>
          <a:p>
            <a:pPr algn="l">
              <a:spcAft>
                <a:spcPts val="600"/>
              </a:spcAft>
            </a:pPr>
            <a:r>
              <a:rPr lang="en-US" sz="1600" b="1" cap="all" dirty="0"/>
              <a:t>College </a:t>
            </a:r>
            <a:r>
              <a:rPr lang="en-US" sz="1600" b="1" cap="all" dirty="0" err="1"/>
              <a:t>Name:thakur</a:t>
            </a:r>
            <a:r>
              <a:rPr lang="en-US" sz="1600" b="1" cap="all" dirty="0"/>
              <a:t> college of science and commerce</a:t>
            </a:r>
          </a:p>
          <a:p>
            <a:pPr algn="l">
              <a:spcAft>
                <a:spcPts val="600"/>
              </a:spcAft>
            </a:pPr>
            <a:r>
              <a:rPr lang="en-US" sz="1600" b="1" cap="all" dirty="0"/>
              <a:t>Department: Information technology</a:t>
            </a:r>
          </a:p>
          <a:p>
            <a:pPr algn="l">
              <a:spcAft>
                <a:spcPts val="600"/>
              </a:spcAft>
            </a:pPr>
            <a:r>
              <a:rPr lang="en-US" sz="1600" b="1" cap="all" dirty="0"/>
              <a:t>Email </a:t>
            </a:r>
            <a:r>
              <a:rPr lang="en-US" sz="1600" b="1" cap="all" dirty="0" err="1"/>
              <a:t>ID:Bappi.r.singh@gmail.com</a:t>
            </a:r>
            <a:endParaRPr lang="en-US" sz="1600" b="1" cap="all" dirty="0"/>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785636" y="963029"/>
            <a:ext cx="3636513" cy="4675517"/>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(Technology Used)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200" dirty="0">
                <a:latin typeface="Franklin Gothic Book"/>
              </a:rPr>
              <a:t>Restaurants generate enormous amounts of sales data, but they often find it difficult to identify key trends, winners, and peak ordering times. Without the aid of visual analytics, it becomes difficult to leverage the data to inform business decisions to improve sales.</a:t>
            </a: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305435" indent="-305435">
              <a:spcBef>
                <a:spcPct val="20000"/>
              </a:spcBef>
              <a:spcAft>
                <a:spcPts val="600"/>
              </a:spcAft>
              <a:buFont typeface="Arial"/>
              <a:buChar char="•"/>
            </a:pPr>
            <a:r>
              <a:rPr lang="en-US" sz="2400" b="1" dirty="0">
                <a:latin typeface="Calibri"/>
                <a:ea typeface="Calibri"/>
                <a:cs typeface="Calibri"/>
              </a:rPr>
              <a:t>One possible method to accomplish this would be to develop an interactive Power BI dashboard that explores historical sales data for restaurants. This will give a clear and visualized understanding of where money is being made, what types of food are most popular, and what methods are preferred for payment.</a:t>
            </a:r>
            <a:endParaRPr lang="en-GB" sz="24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6" name="Rectangle 3">
            <a:extLst>
              <a:ext uri="{FF2B5EF4-FFF2-40B4-BE49-F238E27FC236}">
                <a16:creationId xmlns:a16="http://schemas.microsoft.com/office/drawing/2014/main" id="{72791AE2-749F-D7D8-F460-69A4E49FECD0}"/>
              </a:ext>
            </a:extLst>
          </p:cNvPr>
          <p:cNvSpPr>
            <a:spLocks noGrp="1" noChangeArrowheads="1"/>
          </p:cNvSpPr>
          <p:nvPr>
            <p:ph idx="1"/>
          </p:nvPr>
        </p:nvSpPr>
        <p:spPr bwMode="auto">
          <a:xfrm>
            <a:off x="233526" y="1543230"/>
            <a:ext cx="1066463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Tool:</a:t>
            </a:r>
            <a:r>
              <a:rPr kumimoji="0" lang="en-US" altLang="en-US" sz="1800" b="0" i="0" u="none" strike="noStrike" cap="none" normalizeH="0" baseline="0" dirty="0">
                <a:ln>
                  <a:noFill/>
                </a:ln>
                <a:solidFill>
                  <a:schemeClr val="tx1"/>
                </a:solidFill>
                <a:effectLst/>
                <a:latin typeface="Arial" panose="020B0604020202020204" pitchFamily="34" charset="0"/>
              </a:rPr>
              <a:t> Microsoft Power BI Desktop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Source:</a:t>
            </a:r>
            <a:r>
              <a:rPr kumimoji="0" lang="en-US" altLang="en-US" sz="1800" b="0" i="0" u="none" strike="noStrike" cap="none" normalizeH="0" baseline="0" dirty="0">
                <a:ln>
                  <a:noFill/>
                </a:ln>
                <a:solidFill>
                  <a:schemeClr val="tx1"/>
                </a:solidFill>
                <a:effectLst/>
                <a:latin typeface="Arial" panose="020B0604020202020204" pitchFamily="34" charset="0"/>
              </a:rPr>
              <a:t> CSV Sales Dataset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Techniques:</a:t>
            </a:r>
            <a:r>
              <a:rPr kumimoji="0" lang="en-US" altLang="en-US" sz="1800" b="0" i="0" u="none" strike="noStrike" cap="none" normalizeH="0" baseline="0" dirty="0">
                <a:ln>
                  <a:noFill/>
                </a:ln>
                <a:solidFill>
                  <a:schemeClr val="tx1"/>
                </a:solidFill>
                <a:effectLst/>
                <a:latin typeface="Arial" panose="020B0604020202020204" pitchFamily="34" charset="0"/>
              </a:rPr>
              <a:t> Data Cleaning, Data Transformation (Power Query),</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and Data Visualization (DAX &amp; Interactive Charting).</a:t>
            </a: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a:bodyPr>
          <a:lstStyle/>
          <a:p>
            <a:pPr marL="305435" indent="-305435">
              <a:spcBef>
                <a:spcPct val="20000"/>
              </a:spcBef>
              <a:spcAft>
                <a:spcPts val="600"/>
              </a:spcAft>
              <a:buFont typeface="Arial"/>
              <a:buChar char="•"/>
            </a:pPr>
            <a:r>
              <a:rPr lang="en-US" sz="2000" dirty="0"/>
              <a:t>Step 1: We acquired raw CSV data, which included over 4,000 orders from various restaurants. </a:t>
            </a:r>
          </a:p>
          <a:p>
            <a:pPr marL="305435" indent="-305435">
              <a:spcBef>
                <a:spcPct val="20000"/>
              </a:spcBef>
              <a:spcAft>
                <a:spcPts val="600"/>
              </a:spcAft>
              <a:buFont typeface="Arial"/>
              <a:buChar char="•"/>
            </a:pPr>
            <a:endParaRPr lang="en-US" sz="2000" dirty="0"/>
          </a:p>
          <a:p>
            <a:pPr marL="305435" indent="-305435">
              <a:spcBef>
                <a:spcPct val="20000"/>
              </a:spcBef>
              <a:spcAft>
                <a:spcPts val="600"/>
              </a:spcAft>
              <a:buFont typeface="Arial"/>
              <a:buChar char="•"/>
            </a:pPr>
            <a:r>
              <a:rPr lang="en-US" sz="2000" dirty="0"/>
              <a:t>Step 2: We prepared the data by correcting data types (Decimals, Dates) and filtering out cancelled orders. </a:t>
            </a:r>
          </a:p>
          <a:p>
            <a:pPr marL="305435" indent="-305435">
              <a:spcBef>
                <a:spcPct val="20000"/>
              </a:spcBef>
              <a:spcAft>
                <a:spcPts val="600"/>
              </a:spcAft>
              <a:buFont typeface="Arial"/>
              <a:buChar char="•"/>
            </a:pPr>
            <a:endParaRPr lang="en-US" sz="2000" dirty="0"/>
          </a:p>
          <a:p>
            <a:pPr marL="305435" indent="-305435">
              <a:spcBef>
                <a:spcPct val="20000"/>
              </a:spcBef>
              <a:spcAft>
                <a:spcPts val="600"/>
              </a:spcAft>
              <a:buFont typeface="Arial"/>
              <a:buChar char="•"/>
            </a:pPr>
            <a:r>
              <a:rPr lang="en-US" sz="2000" dirty="0"/>
              <a:t>Step 3: We designed interactive charts (Line, Donut, and Pie charts) to present the gross sales and estimated profits. </a:t>
            </a:r>
          </a:p>
          <a:p>
            <a:pPr marL="305435" indent="-305435">
              <a:spcBef>
                <a:spcPct val="20000"/>
              </a:spcBef>
              <a:spcAft>
                <a:spcPts val="600"/>
              </a:spcAft>
              <a:buFont typeface="Arial"/>
              <a:buChar char="•"/>
            </a:pPr>
            <a:endParaRPr lang="en-US" sz="2000" dirty="0"/>
          </a:p>
          <a:p>
            <a:pPr marL="305435" indent="-305435">
              <a:spcBef>
                <a:spcPct val="20000"/>
              </a:spcBef>
              <a:spcAft>
                <a:spcPts val="600"/>
              </a:spcAft>
              <a:buFont typeface="Arial"/>
              <a:buChar char="•"/>
            </a:pPr>
            <a:r>
              <a:rPr lang="en-US" sz="2000" dirty="0"/>
              <a:t>Step 4: We implemented interactivity using slicers to enable dynamic filtering by food category and a final static report for analysis.</a:t>
            </a:r>
            <a:endParaRPr lang="en-GB" sz="2000" dirty="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5" name="Content Placeholder 4">
            <a:extLst>
              <a:ext uri="{FF2B5EF4-FFF2-40B4-BE49-F238E27FC236}">
                <a16:creationId xmlns:a16="http://schemas.microsoft.com/office/drawing/2014/main" id="{45DD31CE-9479-97D2-0361-392C14372B5D}"/>
              </a:ext>
            </a:extLst>
          </p:cNvPr>
          <p:cNvSpPr>
            <a:spLocks noGrp="1"/>
          </p:cNvSpPr>
          <p:nvPr>
            <p:ph idx="1"/>
          </p:nvPr>
        </p:nvSpPr>
        <p:spPr/>
        <p:txBody>
          <a:bodyPr/>
          <a:lstStyle/>
          <a:p>
            <a:pPr marL="0" indent="0">
              <a:buNone/>
            </a:pPr>
            <a:endParaRPr lang="en-IN" dirty="0"/>
          </a:p>
        </p:txBody>
      </p:sp>
      <p:pic>
        <p:nvPicPr>
          <p:cNvPr id="9" name="Picture 8">
            <a:extLst>
              <a:ext uri="{FF2B5EF4-FFF2-40B4-BE49-F238E27FC236}">
                <a16:creationId xmlns:a16="http://schemas.microsoft.com/office/drawing/2014/main" id="{EDE5C6D2-821D-68C0-E359-F1F64FD52D37}"/>
              </a:ext>
            </a:extLst>
          </p:cNvPr>
          <p:cNvPicPr>
            <a:picLocks noChangeAspect="1"/>
          </p:cNvPicPr>
          <p:nvPr/>
        </p:nvPicPr>
        <p:blipFill>
          <a:blip r:embed="rId2"/>
          <a:stretch>
            <a:fillRect/>
          </a:stretch>
        </p:blipFill>
        <p:spPr>
          <a:xfrm>
            <a:off x="438539" y="1371600"/>
            <a:ext cx="10795518" cy="5291234"/>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dirty="0"/>
              <a:t>The Power BI dashboard does a great job of converting the raw restaurant data into useful insights. From the data, it’s clear that the most preferred method of payment for the customers is cards, and the revenue for the restaurant comes from the sale of the main courses.</a:t>
            </a:r>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buNone/>
            </a:pPr>
            <a:r>
              <a:rPr lang="en-US" sz="3200" dirty="0"/>
              <a:t>The future enhancements may include connecting this dashboard to a live database such as MySQL to monitor the sales in real-time. Further, the use of machine learning algorithms could be helpful to predict the sales for the next day or the peak hours based on the trends.</a:t>
            </a:r>
            <a:endParaRPr lang="en-GB" sz="3200" dirty="0"/>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4"/>
            <a:ext cx="11314476" cy="4700541"/>
          </a:xfrm>
        </p:spPr>
        <p:txBody>
          <a:bodyPr vert="horz" lIns="91440" tIns="45720" rIns="91440" bIns="45720" rtlCol="0" anchor="t">
            <a:normAutofit/>
          </a:bodyPr>
          <a:lstStyle/>
          <a:p>
            <a:pPr marL="0" indent="0">
              <a:buNone/>
            </a:pPr>
            <a:r>
              <a:rPr lang="en-IN" sz="2200" dirty="0">
                <a:latin typeface="Franklin Gothic Book"/>
              </a:rPr>
              <a:t>GitHub Link:</a:t>
            </a:r>
            <a:r>
              <a:rPr lang="en-IN" sz="2200" dirty="0">
                <a:solidFill>
                  <a:srgbClr val="0070C0"/>
                </a:solidFill>
                <a:latin typeface="Franklin Gothic Book"/>
              </a:rPr>
              <a:t> </a:t>
            </a:r>
            <a:r>
              <a:rPr lang="en-IN" sz="2200" dirty="0">
                <a:solidFill>
                  <a:srgbClr val="0070C0"/>
                </a:solidFill>
                <a:latin typeface="Franklin Gothic Book"/>
                <a:hlinkClick r:id="rId2"/>
              </a:rPr>
              <a:t>https://github.com/SinghBappi/Edunet_MS_Power_Bi_Internship</a:t>
            </a:r>
            <a:endParaRPr lang="en-IN" sz="2200" dirty="0">
              <a:solidFill>
                <a:srgbClr val="0070C0"/>
              </a:solidFill>
              <a:latin typeface="Franklin Gothic Book"/>
            </a:endParaRPr>
          </a:p>
          <a:p>
            <a:pPr marL="0" indent="0">
              <a:buNone/>
            </a:pPr>
            <a:r>
              <a:rPr lang="en-IN" sz="2200" dirty="0">
                <a:latin typeface="Franklin Gothic Book"/>
              </a:rPr>
              <a:t>LinkedIn Post </a:t>
            </a:r>
            <a:r>
              <a:rPr lang="en-IN" sz="2200" dirty="0" err="1">
                <a:latin typeface="Franklin Gothic Book"/>
              </a:rPr>
              <a:t>Link:</a:t>
            </a:r>
            <a:r>
              <a:rPr lang="en-IN" sz="2200" dirty="0" err="1">
                <a:latin typeface="Franklin Gothic Book"/>
                <a:hlinkClick r:id="rId3"/>
              </a:rPr>
              <a:t>https</a:t>
            </a:r>
            <a:r>
              <a:rPr lang="en-IN" sz="2200" dirty="0">
                <a:latin typeface="Franklin Gothic Book"/>
                <a:hlinkClick r:id="rId3"/>
              </a:rPr>
              <a:t>://www.linkedin.com/posts/bappi-singh-13a15a33b_powerbi-dataanalytics-microsoftlearn-activity-7438603519768670208-qE3u?utm_source=share&amp;utm_medium=member_desktop&amp;rcm=ACoAAFVGFT4Bv4f_Rebye2FBbgS7mURboFtvBcA</a:t>
            </a:r>
            <a:endParaRPr lang="en-IN" sz="2200" dirty="0">
              <a:latin typeface="Franklin Gothic Book"/>
            </a:endParaRPr>
          </a:p>
          <a:p>
            <a:pPr marL="0" indent="0">
              <a:buNone/>
            </a:pPr>
            <a:r>
              <a:rPr lang="en-IN" sz="2200" dirty="0">
                <a:latin typeface="Franklin Gothic Book"/>
              </a:rPr>
              <a:t>Google Drive Link(Actual File): </a:t>
            </a:r>
            <a:r>
              <a:rPr lang="en-IN" sz="2200" dirty="0">
                <a:latin typeface="Franklin Gothic Book"/>
                <a:hlinkClick r:id="rId4"/>
              </a:rPr>
              <a:t>https://drive.google.com/file/d/1lhTUR2TkuU89VoRTJrvKH2qwVDD5CIeV/view?usp=sharing</a:t>
            </a:r>
            <a:endParaRPr lang="en-IN" sz="2200" dirty="0">
              <a:latin typeface="Franklin Gothic Book"/>
            </a:endParaRPr>
          </a:p>
          <a:p>
            <a:pPr marL="0" indent="0">
              <a:buNone/>
            </a:pPr>
            <a:r>
              <a:rPr lang="en-IN" sz="2200" dirty="0">
                <a:latin typeface="Franklin Gothic Book"/>
              </a:rPr>
              <a:t>Output Link: </a:t>
            </a:r>
            <a:r>
              <a:rPr lang="en-IN" sz="2200" dirty="0">
                <a:latin typeface="Franklin Gothic Book"/>
                <a:hlinkClick r:id="rId5"/>
              </a:rPr>
              <a:t>https://drive.google.com/file/d/1ASyJyuwt64qZqI1-OkOse2l7tzoRNtfy/view?usp=sharing</a:t>
            </a:r>
            <a:endParaRPr lang="en-IN" sz="2200" dirty="0">
              <a:latin typeface="Franklin Gothic Book"/>
            </a:endParaRPr>
          </a:p>
          <a:p>
            <a:pPr marL="0" indent="0">
              <a:buNone/>
            </a:pPr>
            <a:r>
              <a:rPr lang="en-IN" sz="2200" dirty="0">
                <a:latin typeface="Franklin Gothic Book"/>
              </a:rPr>
              <a:t>Video </a:t>
            </a:r>
            <a:r>
              <a:rPr lang="en-IN" sz="2200" dirty="0" err="1">
                <a:latin typeface="Franklin Gothic Book"/>
              </a:rPr>
              <a:t>Demostration</a:t>
            </a:r>
            <a:r>
              <a:rPr lang="en-IN" sz="2200" dirty="0">
                <a:latin typeface="Franklin Gothic Book"/>
              </a:rPr>
              <a:t> Link: </a:t>
            </a:r>
            <a:r>
              <a:rPr lang="en-IN" sz="2200" dirty="0">
                <a:latin typeface="Franklin Gothic Book"/>
                <a:hlinkClick r:id="rId6"/>
              </a:rPr>
              <a:t>https://drive.google.com/file/d/1iBNYuX0txAh9fcKNK1G5o78AvD_H1JLx/view?usp=sharing</a:t>
            </a:r>
            <a:endParaRPr lang="en-IN" sz="2200" dirty="0">
              <a:latin typeface="Franklin Gothic Book"/>
            </a:endParaRPr>
          </a:p>
          <a:p>
            <a:pPr marL="0" indent="0">
              <a:buNone/>
            </a:pPr>
            <a:endParaRPr lang="en-IN" sz="2200"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TotalTime>
  <Words>547</Words>
  <Application>Microsoft Office PowerPoint</Application>
  <PresentationFormat>Widescreen</PresentationFormat>
  <Paragraphs>50</Paragraphs>
  <Slides>11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Bappi Singh</cp:lastModifiedBy>
  <cp:revision>103</cp:revision>
  <dcterms:created xsi:type="dcterms:W3CDTF">2024-05-21T11:55:07Z</dcterms:created>
  <dcterms:modified xsi:type="dcterms:W3CDTF">2026-03-14T15:16:58Z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